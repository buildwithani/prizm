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17320" cy="64008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6364224"/>
            <a:ext cx="10820095" cy="12801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55664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60">
                <a:solidFill>
                  <a:srgbClr val="6F6F6F"/>
                </a:solidFill>
                <a:latin typeface="Consolas"/>
              </a:rPr>
              <a:t>PRIZM  ·  ABHYUDAY 2026  ·  Startup India Hackathon-cum-Mentorship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77095" y="6455664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60">
                <a:solidFill>
                  <a:srgbClr val="181818"/>
                </a:solidFill>
                <a:latin typeface="Consolas"/>
              </a:rPr>
              <a:t>01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50">
                <a:solidFill>
                  <a:srgbClr val="181818"/>
                </a:solidFill>
                <a:latin typeface="Consolas"/>
              </a:rPr>
              <a:t>01  ·  PROJECT TITLE &amp; 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13232"/>
            <a:ext cx="108200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81818"/>
                </a:solidFill>
                <a:latin typeface="Segoe UI Semibold"/>
              </a:rPr>
              <a:t>PRIZM — learning programming by watching it run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298448"/>
            <a:ext cx="10820095" cy="12801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517904"/>
            <a:ext cx="1082009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F6F6F"/>
                </a:solidFill>
                <a:latin typeface="Segoe UI"/>
              </a:rPr>
              <a:t>The runtime determines what happened; the AI explains why it matters. Run programs in 13 language modes, watch genuine runtime traces step by step in 9, and read a plain-English story for every single step — then ask an AI tutor grounded in the selected line, frame and variable snapshots.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432304"/>
            <a:ext cx="1645920" cy="310896"/>
          </a:xfrm>
          <a:prstGeom prst="roundRect">
            <a:avLst>
              <a:gd name="adj" fmla="val 50000"/>
            </a:avLst>
          </a:prstGeom>
          <a:noFill/>
          <a:ln w="13970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482596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181818"/>
                </a:solidFill>
                <a:latin typeface="Consolas"/>
              </a:rPr>
              <a:t>9 TRACE ENGINES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59736" y="2432304"/>
            <a:ext cx="1828800" cy="310896"/>
          </a:xfrm>
          <a:prstGeom prst="roundRect">
            <a:avLst>
              <a:gd name="adj" fmla="val 50000"/>
            </a:avLst>
          </a:prstGeom>
          <a:noFill/>
          <a:ln w="13970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59736" y="2482596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181818"/>
                </a:solidFill>
                <a:latin typeface="Consolas"/>
              </a:rPr>
              <a:t>13 LANGUAGE MODES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16552" y="2432304"/>
            <a:ext cx="1737360" cy="310896"/>
          </a:xfrm>
          <a:prstGeom prst="roundRect">
            <a:avLst>
              <a:gd name="adj" fmla="val 50000"/>
            </a:avLst>
          </a:prstGeom>
          <a:noFill/>
          <a:ln w="13970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6552" y="2482596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181818"/>
                </a:solidFill>
                <a:latin typeface="Consolas"/>
              </a:rPr>
              <a:t>160 QA CHECKS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889504"/>
            <a:ext cx="5257800" cy="182880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 w="1270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3054096"/>
            <a:ext cx="48554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81818"/>
                </a:solidFill>
                <a:latin typeface="Segoe UI Semibold"/>
              </a:rPr>
              <a:t>DETERMINISTIC PIPELINE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3328416"/>
            <a:ext cx="4855464" cy="1261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81818"/>
                </a:solidFill>
                <a:latin typeface="Segoe UI"/>
              </a:rPr>
              <a:t>code → execution → trace → step story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F6F6F"/>
                </a:solidFill>
                <a:latin typeface="Segoe UI"/>
              </a:rPr>
              <a:t>Each trace event carries real line, frame, variable and output data — the story can only describe what the machine did.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F6F6F"/>
                </a:solidFill>
                <a:latin typeface="Segoe UI"/>
              </a:rPr>
              <a:t>Runs in 3 s with hard event and output caps.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45352" y="2889504"/>
            <a:ext cx="5257800" cy="182880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 w="1270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054096"/>
            <a:ext cx="48554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81818"/>
                </a:solidFill>
                <a:latin typeface="Segoe UI Semibold"/>
              </a:rPr>
              <a:t>AI LEARNING PIPELINE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328416"/>
            <a:ext cx="4855464" cy="1261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81818"/>
                </a:solidFill>
                <a:latin typeface="Segoe UI"/>
              </a:rPr>
              <a:t>trace evidence → grounded explanation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F6F6F"/>
                </a:solidFill>
                <a:latin typeface="Segoe UI"/>
              </a:rPr>
              <a:t>Pause a step for a 40-word AI insight, or open a full tutor conversation about the selected line — both forbidden from inventing values.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F6F6F"/>
                </a:solidFill>
                <a:latin typeface="Segoe UI"/>
              </a:rPr>
              <a:t>Practice and assessment remain roadmap work.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919472"/>
            <a:ext cx="10820095" cy="1298448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 w="19050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047488"/>
            <a:ext cx="102714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40">
                <a:solidFill>
                  <a:srgbClr val="181818"/>
                </a:solidFill>
                <a:latin typeface="Consolas"/>
              </a:rPr>
              <a:t>MUST MENTION  ·  TEAM &amp; MENTOR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0120" y="5303520"/>
            <a:ext cx="10271455" cy="9144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5413248"/>
            <a:ext cx="3566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10">
                <a:solidFill>
                  <a:srgbClr val="181818"/>
                </a:solidFill>
                <a:latin typeface="Consolas"/>
              </a:rPr>
              <a:t>TEAM LEADER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562356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1818"/>
                </a:solidFill>
                <a:latin typeface="Segoe UI Semibold"/>
              </a:rPr>
              <a:t>Anmol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5907024"/>
            <a:ext cx="3566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F6F6F"/>
                </a:solidFill>
                <a:latin typeface="Segoe UI"/>
              </a:rPr>
              <a:t>B.Tech CSE   ·   Program: B.Tech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09160" y="5394960"/>
            <a:ext cx="12801" cy="694944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37760" y="5413248"/>
            <a:ext cx="3200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10">
                <a:solidFill>
                  <a:srgbClr val="181818"/>
                </a:solidFill>
                <a:latin typeface="Consolas"/>
              </a:rPr>
              <a:t>TEAM MEMBERS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56235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81818"/>
                </a:solidFill>
                <a:latin typeface="Segoe UI Semibold"/>
              </a:rPr>
              <a:t>Anirudh · Ankush · Kalpana · Gautam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7760" y="5907024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F6F6F"/>
                </a:solidFill>
                <a:latin typeface="Segoe UI"/>
              </a:rPr>
              <a:t>B.Tech CSE (all)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21040" y="5394960"/>
            <a:ext cx="12801" cy="694944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49640" y="5413248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10">
                <a:solidFill>
                  <a:srgbClr val="181818"/>
                </a:solidFill>
                <a:latin typeface="Consolas"/>
              </a:rPr>
              <a:t>MENTOR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49640" y="56235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1818"/>
                </a:solidFill>
                <a:latin typeface="Segoe UI Semibold"/>
              </a:rPr>
              <a:t>Miss Niharika Mehra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49640" y="5907024"/>
            <a:ext cx="2743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F6F6F"/>
                </a:solidFill>
                <a:latin typeface="Segoe UI"/>
              </a:rPr>
              <a:t>Abhyuday 2026 · Hindu College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17320" cy="64008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6364224"/>
            <a:ext cx="10820095" cy="12801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55664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60">
                <a:solidFill>
                  <a:srgbClr val="6F6F6F"/>
                </a:solidFill>
                <a:latin typeface="Consolas"/>
              </a:rPr>
              <a:t>PRIZM  ·  ABHYUDAY 2026  ·  Startup India Hackathon-cum-Mentorship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77095" y="6455664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60">
                <a:solidFill>
                  <a:srgbClr val="181818"/>
                </a:solidFill>
                <a:latin typeface="Consolas"/>
              </a:rPr>
              <a:t>02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50">
                <a:solidFill>
                  <a:srgbClr val="181818"/>
                </a:solidFill>
                <a:latin typeface="Consolas"/>
              </a:rPr>
              <a:t>02  ·  PROBLEM STATEMENT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13232"/>
            <a:ext cx="108200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81818"/>
                </a:solidFill>
                <a:latin typeface="Segoe UI Semibold"/>
              </a:rPr>
              <a:t>Beginners cannot see code think — and AI tutors make it worse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298448"/>
            <a:ext cx="10820095" cy="12801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1517904"/>
            <a:ext cx="2512999" cy="233172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 w="1270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664207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81818"/>
                </a:solidFill>
                <a:latin typeface="Consola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084831"/>
            <a:ext cx="21106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1818"/>
                </a:solidFill>
                <a:latin typeface="Segoe UI Semibold"/>
              </a:rPr>
              <a:t>Execution is invisible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386584"/>
            <a:ext cx="2110663" cy="13441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6F6F6F"/>
                </a:solidFill>
                <a:latin typeface="Segoe UI"/>
              </a:rPr>
              <a:t>Variables change, loops repeat, recursion nests — none of it is visible. Students guess what the machine did instead of knowing.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4831" y="1517904"/>
            <a:ext cx="2512999" cy="233172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 w="1270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5999" y="1664207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81818"/>
                </a:solidFill>
                <a:latin typeface="Consola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5999" y="2084831"/>
            <a:ext cx="21106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1818"/>
                </a:solidFill>
                <a:latin typeface="Segoe UI Semibold"/>
              </a:rPr>
              <a:t>AI tutors hallucinate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5999" y="2386584"/>
            <a:ext cx="2110663" cy="13441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6F6F6F"/>
                </a:solidFill>
                <a:latin typeface="Segoe UI"/>
              </a:rPr>
              <a:t>ChatGPT-style help confidently invents variable values, line numbers and outputs. Learners lose trust after the first wrong answer.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3863" y="1517904"/>
            <a:ext cx="2512999" cy="233172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 w="1270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5031" y="1664207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81818"/>
                </a:solidFill>
                <a:latin typeface="Consola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5031" y="2084831"/>
            <a:ext cx="21106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1818"/>
                </a:solidFill>
                <a:latin typeface="Segoe UI Semibold"/>
              </a:rPr>
              <a:t>Print debugging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5031" y="2386584"/>
            <a:ext cx="2110663" cy="13441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6F6F6F"/>
                </a:solidFill>
                <a:latin typeface="Segoe UI"/>
              </a:rPr>
              <a:t>The default workaround is scattering print() calls — slow, noisy, and it teaches habits that break in real codebases.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92895" y="1517904"/>
            <a:ext cx="2512999" cy="233172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 w="1270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94063" y="1664207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81818"/>
                </a:solidFill>
                <a:latin typeface="Consola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94063" y="2084831"/>
            <a:ext cx="21106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1818"/>
                </a:solidFill>
                <a:latin typeface="Segoe UI Semibold"/>
              </a:rPr>
              <a:t>Tools show, but don't teach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94063" y="2386584"/>
            <a:ext cx="2110663" cy="13441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6F6F6F"/>
                </a:solidFill>
                <a:latin typeface="Segoe UI"/>
              </a:rPr>
              <a:t>Visualisers show a picture without explanation; debuggers explain to experts. Nothing joins real runtime state with grounded AI teaching.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032504"/>
            <a:ext cx="10820095" cy="105156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 w="19050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4197096"/>
            <a:ext cx="1027145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81818"/>
                </a:solidFill>
                <a:latin typeface="Consolas"/>
              </a:rPr>
              <a:t>THE GAP   </a:t>
            </a:r>
            <a:r>
              <a:rPr sz="1400" b="0">
                <a:solidFill>
                  <a:srgbClr val="181818"/>
                </a:solidFill>
                <a:latin typeface="Segoe UI"/>
              </a:rPr>
              <a:t>Students need two things at the same moment: </a:t>
            </a:r>
            <a:r>
              <a:rPr sz="1400" b="1">
                <a:solidFill>
                  <a:srgbClr val="181818"/>
                </a:solidFill>
                <a:latin typeface="Segoe UI"/>
              </a:rPr>
              <a:t>what the runtime actually did</a:t>
            </a:r>
            <a:r>
              <a:rPr sz="1400" b="0">
                <a:solidFill>
                  <a:srgbClr val="181818"/>
                </a:solidFill>
                <a:latin typeface="Segoe UI"/>
              </a:rPr>
              <a:t> and </a:t>
            </a:r>
            <a:r>
              <a:rPr sz="1400" b="1">
                <a:solidFill>
                  <a:srgbClr val="181818"/>
                </a:solidFill>
                <a:latin typeface="Segoe UI"/>
              </a:rPr>
              <a:t>why it matters, in words they understand.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1200" b="0" i="0">
                <a:solidFill>
                  <a:srgbClr val="6F6F6F"/>
                </a:solidFill>
                <a:latin typeface="Segoe UI"/>
              </a:rPr>
              <a:t>Today no single tool delivers both from the same source of truth.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221224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>
                <a:solidFill>
                  <a:srgbClr val="181818"/>
                </a:solidFill>
                <a:latin typeface="Consolas"/>
              </a:rPr>
              <a:t>PROBLEM SIZE — APPROX. / INDUSTRY ESTIMATES, ILLUSTRATIVE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5477256"/>
            <a:ext cx="2526715" cy="77724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 w="1270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392" y="5605272"/>
            <a:ext cx="219753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81818"/>
                </a:solidFill>
                <a:latin typeface="Consolas"/>
              </a:rPr>
              <a:t>50M+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" y="6025896"/>
            <a:ext cx="2197531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F6F6F"/>
                </a:solidFill>
                <a:latin typeface="Segoe UI"/>
              </a:rPr>
              <a:t>beginners learning to code / yr (est.)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50259" y="5477256"/>
            <a:ext cx="2526715" cy="77724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 w="1270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14851" y="5605272"/>
            <a:ext cx="219753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81818"/>
                </a:solidFill>
                <a:latin typeface="Consolas"/>
              </a:rPr>
              <a:t>≈ 40%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14851" y="6025896"/>
            <a:ext cx="2197531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F6F6F"/>
                </a:solidFill>
                <a:latin typeface="Segoe UI"/>
              </a:rPr>
              <a:t>of lab time lost to guessing (est.)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4719" y="5477256"/>
            <a:ext cx="2526715" cy="77724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 w="1270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79311" y="5605272"/>
            <a:ext cx="219753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81818"/>
                </a:solidFill>
                <a:latin typeface="Consolas"/>
              </a:rPr>
              <a:t>3–5×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79311" y="6025896"/>
            <a:ext cx="2197531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F6F6F"/>
                </a:solidFill>
                <a:latin typeface="Segoe UI"/>
              </a:rPr>
              <a:t>faster fixes with step-through (est.)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79179" y="5477256"/>
            <a:ext cx="2526715" cy="77724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 w="1270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3771" y="5605272"/>
            <a:ext cx="219753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81818"/>
                </a:solidFill>
                <a:latin typeface="Consolas"/>
              </a:rPr>
              <a:t>≈ 90%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3771" y="6025896"/>
            <a:ext cx="2197531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F6F6F"/>
                </a:solidFill>
                <a:latin typeface="Segoe UI"/>
              </a:rPr>
              <a:t>still debug with print / IDE (est.)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17320" cy="64008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6364224"/>
            <a:ext cx="10820095" cy="12801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55664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60">
                <a:solidFill>
                  <a:srgbClr val="6F6F6F"/>
                </a:solidFill>
                <a:latin typeface="Consolas"/>
              </a:rPr>
              <a:t>PRIZM  ·  ABHYUDAY 2026  ·  Startup India Hackathon-cum-Mentorship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77095" y="6455664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60">
                <a:solidFill>
                  <a:srgbClr val="181818"/>
                </a:solidFill>
                <a:latin typeface="Consolas"/>
              </a:rPr>
              <a:t>03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50">
                <a:solidFill>
                  <a:srgbClr val="181818"/>
                </a:solidFill>
                <a:latin typeface="Consolas"/>
              </a:rPr>
              <a:t>03  ·  INNOVATION &amp; UNIQUENESS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13232"/>
            <a:ext cx="108200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81818"/>
                </a:solidFill>
                <a:latin typeface="Segoe UI Semibold"/>
              </a:rPr>
              <a:t>What nobody else ships together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43584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F6F6F"/>
                </a:solidFill>
                <a:latin typeface="Segoe UI"/>
              </a:rPr>
              <a:t>Four product choices that make PRIZM a learning environment, not just a code runner.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682496"/>
            <a:ext cx="10820095" cy="12801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1901952"/>
            <a:ext cx="5272887" cy="141732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 w="1270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084832"/>
            <a:ext cx="48339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81818"/>
                </a:solidFill>
                <a:latin typeface="Consolas"/>
              </a:rPr>
              <a:t>01  </a:t>
            </a:r>
            <a:r>
              <a:rPr sz="1450" b="1">
                <a:solidFill>
                  <a:srgbClr val="181818"/>
                </a:solidFill>
                <a:latin typeface="Segoe UI Semibold"/>
              </a:rPr>
              <a:t>Story for every step — that can't lie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77359" y="2057400"/>
            <a:ext cx="1280160" cy="256032"/>
          </a:xfrm>
          <a:prstGeom prst="roundRect">
            <a:avLst>
              <a:gd name="adj" fmla="val 50000"/>
            </a:avLst>
          </a:prstGeom>
          <a:noFill/>
          <a:ln w="13970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77359" y="2107692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60">
                <a:solidFill>
                  <a:srgbClr val="181818"/>
                </a:solidFill>
                <a:latin typeface="Consolas"/>
              </a:rPr>
              <a:t>STEP STORIES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2432304"/>
            <a:ext cx="483397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F6F6F"/>
                </a:solidFill>
                <a:latin typeface="Segoe UI"/>
              </a:rPr>
              <a:t>A deterministic engine turns each real trace event into a headline, a what-happened paragraph, why it matters and a preview of the next step. It works instantly and offline, straight from runtime data.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1901952"/>
            <a:ext cx="5272887" cy="141732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 w="1270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2463" y="2084832"/>
            <a:ext cx="48339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81818"/>
                </a:solidFill>
                <a:latin typeface="Consolas"/>
              </a:rPr>
              <a:t>02  </a:t>
            </a:r>
            <a:r>
              <a:rPr sz="1450" b="1">
                <a:solidFill>
                  <a:srgbClr val="181818"/>
                </a:solidFill>
                <a:latin typeface="Segoe UI Semibold"/>
              </a:rPr>
              <a:t>Trace-grounded tutoring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24567" y="2057400"/>
            <a:ext cx="1280160" cy="256032"/>
          </a:xfrm>
          <a:prstGeom prst="roundRect">
            <a:avLst>
              <a:gd name="adj" fmla="val 50000"/>
            </a:avLst>
          </a:prstGeom>
          <a:noFill/>
          <a:ln w="13970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24567" y="2107692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60">
                <a:solidFill>
                  <a:srgbClr val="181818"/>
                </a:solidFill>
                <a:latin typeface="Consolas"/>
              </a:rPr>
              <a:t>GROUNDING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2463" y="2432304"/>
            <a:ext cx="483397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F6F6F"/>
                </a:solidFill>
                <a:latin typeface="Segoe UI"/>
              </a:rPr>
              <a:t>The tutor receives source, language, student level and the selected line, function, event, locals and output. Its system prompt forbids invented runtime values — so the bot is never confidently wrong.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502152"/>
            <a:ext cx="5272887" cy="141732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 w="1270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6" y="3685032"/>
            <a:ext cx="48339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81818"/>
                </a:solidFill>
                <a:latin typeface="Consolas"/>
              </a:rPr>
              <a:t>03  </a:t>
            </a:r>
            <a:r>
              <a:rPr sz="1450" b="1">
                <a:solidFill>
                  <a:srgbClr val="181818"/>
                </a:solidFill>
                <a:latin typeface="Segoe UI Semibold"/>
              </a:rPr>
              <a:t>Snapshot per step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77359" y="3657600"/>
            <a:ext cx="1280160" cy="256032"/>
          </a:xfrm>
          <a:prstGeom prst="roundRect">
            <a:avLst>
              <a:gd name="adj" fmla="val 50000"/>
            </a:avLst>
          </a:prstGeom>
          <a:noFill/>
          <a:ln w="13970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77359" y="3707891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60">
                <a:solidFill>
                  <a:srgbClr val="181818"/>
                </a:solidFill>
                <a:latin typeface="Consolas"/>
              </a:rPr>
              <a:t>ARCHITECTURE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" y="4032504"/>
            <a:ext cx="483397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F6F6F"/>
                </a:solidFill>
                <a:latin typeface="Segoe UI"/>
              </a:rPr>
              <a:t>Every trace event stores a full JSON snapshot of frame locals, so scrubbing backwards is always correct and never re-runs the program.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33007" y="3502152"/>
            <a:ext cx="5272887" cy="141732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 w="1270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52463" y="3685032"/>
            <a:ext cx="48339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81818"/>
                </a:solidFill>
                <a:latin typeface="Consolas"/>
              </a:rPr>
              <a:t>04  </a:t>
            </a:r>
            <a:r>
              <a:rPr sz="1450" b="1">
                <a:solidFill>
                  <a:srgbClr val="181818"/>
                </a:solidFill>
                <a:latin typeface="Segoe UI Semibold"/>
              </a:rPr>
              <a:t>Cross-language, honest tracing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24567" y="3657600"/>
            <a:ext cx="1280160" cy="256032"/>
          </a:xfrm>
          <a:prstGeom prst="roundRect">
            <a:avLst>
              <a:gd name="adj" fmla="val 50000"/>
            </a:avLst>
          </a:prstGeom>
          <a:noFill/>
          <a:ln w="13970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24567" y="3707891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60">
                <a:solidFill>
                  <a:srgbClr val="181818"/>
                </a:solidFill>
                <a:latin typeface="Consolas"/>
              </a:rPr>
              <a:t>VISUALISER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52463" y="4032504"/>
            <a:ext cx="483397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F6F6F"/>
                </a:solidFill>
                <a:latin typeface="Segoe UI"/>
              </a:rPr>
              <a:t>Nine languages have runtime-backed tracing. Three more run without step-through; HTML renders in a sandboxed preview. Unsupported tracing is clearly identified.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102352"/>
            <a:ext cx="10820095" cy="640080"/>
          </a:xfrm>
          <a:prstGeom prst="roundRect">
            <a:avLst>
              <a:gd name="adj" fmla="val 7000"/>
            </a:avLst>
          </a:prstGeom>
          <a:noFill/>
          <a:ln w="17780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5257800"/>
            <a:ext cx="102714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81818"/>
                </a:solidFill>
                <a:latin typeface="Consolas"/>
              </a:rPr>
              <a:t>UNIQUE ANGLE   </a:t>
            </a:r>
            <a:r>
              <a:rPr sz="1250" b="0">
                <a:solidFill>
                  <a:srgbClr val="181818"/>
                </a:solidFill>
                <a:latin typeface="Segoe UI"/>
              </a:rPr>
              <a:t>The only stack where the deterministic runtime and the AI pipeline are separate by design — the AI can only teach states the machine really produced.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17320" cy="64008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6364224"/>
            <a:ext cx="10820095" cy="12801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55664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60">
                <a:solidFill>
                  <a:srgbClr val="6F6F6F"/>
                </a:solidFill>
                <a:latin typeface="Consolas"/>
              </a:rPr>
              <a:t>PRIZM  ·  ABHYUDAY 2026  ·  Startup India Hackathon-cum-Mentorship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77095" y="6455664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60">
                <a:solidFill>
                  <a:srgbClr val="181818"/>
                </a:solidFill>
                <a:latin typeface="Consolas"/>
              </a:rPr>
              <a:t>04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50">
                <a:solidFill>
                  <a:srgbClr val="181818"/>
                </a:solidFill>
                <a:latin typeface="Consolas"/>
              </a:rPr>
              <a:t>04  ·  AI-POWERED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13232"/>
            <a:ext cx="108200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81818"/>
                </a:solidFill>
                <a:latin typeface="Segoe UI Semibold"/>
              </a:rPr>
              <a:t>An AI tutor that reads the selected runtime step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43584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F6F6F"/>
                </a:solidFill>
                <a:latin typeface="Segoe UI"/>
              </a:rPr>
              <a:t>POST /api/tutor/explain sends source plus the selected trace evidence to OpenRouter; full-file `prizm` code replies can be applied to the editor.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682496"/>
            <a:ext cx="10820095" cy="12801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1901952"/>
            <a:ext cx="6035040" cy="324612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 w="1270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084832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10">
                <a:solidFill>
                  <a:srgbClr val="181818"/>
                </a:solidFill>
                <a:latin typeface="Consolas"/>
              </a:rPr>
              <a:t>PROMPT ANATOMY — WHAT THE MODEL ACTUALLY SEES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468880"/>
            <a:ext cx="1005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81818"/>
                </a:solidFill>
                <a:latin typeface="Consolas"/>
              </a:rPr>
              <a:t>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2450592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81818"/>
                </a:solidFill>
                <a:latin typeface="Segoe UI"/>
              </a:rPr>
              <a:t>“values come from a REAL runtime trace — never guesswork”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" y="2871216"/>
            <a:ext cx="1005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81818"/>
                </a:solidFill>
                <a:latin typeface="Consolas"/>
              </a:rPr>
              <a:t>source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2852928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F6F6F"/>
                </a:solidFill>
                <a:latin typeface="Segoe UI"/>
              </a:rPr>
              <a:t>the student's full program, fenced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" y="3273552"/>
            <a:ext cx="1005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81818"/>
                </a:solidFill>
                <a:latin typeface="Consolas"/>
              </a:rPr>
              <a:t>step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5960" y="3255264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81818"/>
                </a:solidFill>
                <a:latin typeface="Segoe UI"/>
              </a:rPr>
              <a:t>line · frame · event · variables (k = 3) · output ≤ 800 chars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" y="3675888"/>
            <a:ext cx="1005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81818"/>
                </a:solidFill>
                <a:latin typeface="Consolas"/>
              </a:rPr>
              <a:t>history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5960" y="365760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F6F6F"/>
                </a:solidFill>
                <a:latin typeface="Segoe UI"/>
              </a:rPr>
              <a:t>last 12 messages (24 allowed)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" y="4078224"/>
            <a:ext cx="1005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81818"/>
                </a:solidFill>
                <a:latin typeface="Consolas"/>
              </a:rPr>
              <a:t>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65960" y="4059936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F6F6F"/>
                </a:solidFill>
                <a:latin typeface="Segoe UI"/>
              </a:rPr>
              <a:t>student's question, ≤ 2000 chars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3544" y="4498848"/>
            <a:ext cx="5559552" cy="12801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" y="4645152"/>
            <a:ext cx="5577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81818"/>
                </a:solidFill>
                <a:latin typeface="Consolas"/>
              </a:rPr>
              <a:t>→  </a:t>
            </a:r>
            <a:r>
              <a:rPr sz="1150" b="0">
                <a:solidFill>
                  <a:srgbClr val="181818"/>
                </a:solidFill>
                <a:latin typeface="Segoe UI"/>
              </a:rPr>
              <a:t>answer ≤ ~200 words, plus one fenced </a:t>
            </a:r>
            <a:r>
              <a:rPr sz="1150" b="1">
                <a:solidFill>
                  <a:srgbClr val="181818"/>
                </a:solidFill>
                <a:latin typeface="Consolas"/>
              </a:rPr>
              <a:t>prizm</a:t>
            </a:r>
            <a:r>
              <a:rPr sz="1150" b="0">
                <a:solidFill>
                  <a:srgbClr val="181818"/>
                </a:solidFill>
                <a:latin typeface="Segoe UI"/>
              </a:rPr>
              <a:t> block the student can click to apply straight into the editor.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95160" y="1901952"/>
            <a:ext cx="4507992" cy="141732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 w="1270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96328" y="2066544"/>
            <a:ext cx="4105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81818"/>
                </a:solidFill>
                <a:latin typeface="Segoe UI Semibold"/>
              </a:rPr>
              <a:t>MODEL CHAIN (CONFIGURABLE)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96328" y="2395728"/>
            <a:ext cx="4105655" cy="795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F6F6F"/>
                </a:solidFill>
                <a:latin typeface="Consolas"/>
              </a:rPr>
              <a:t>Default: anthropic/claude-fable-5.1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F6F6F"/>
                </a:solidFill>
                <a:latin typeface="Consolas"/>
              </a:rPr>
              <a:t>Fallbacks: Sonnet 5.5 → Haiku 5.5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F6F6F"/>
                </a:solidFill>
                <a:latin typeface="Consolas"/>
              </a:rPr>
              <a:t>60 s timeout · output budget defaults to 2048 tokens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F6F6F"/>
                </a:solidFill>
                <a:latin typeface="Consolas"/>
              </a:rPr>
              <a:t>≈ $0.005–0.02 (₹0.4–1.8) per answer (est.)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95160" y="3502152"/>
            <a:ext cx="4507992" cy="141732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 w="1270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96328" y="3666744"/>
            <a:ext cx="4105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81818"/>
                </a:solidFill>
                <a:latin typeface="Segoe UI Semibold"/>
              </a:rPr>
              <a:t>CONTINUE + FALL BACK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96328" y="3995928"/>
            <a:ext cx="4105655" cy="795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F6F6F"/>
                </a:solidFill>
                <a:latin typeface="Consolas"/>
              </a:rPr>
              <a:t>Up to 3 continuation calls after cutoff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F6F6F"/>
                </a:solidFill>
                <a:latin typeface="Consolas"/>
              </a:rPr>
              <a:t>402: shrink to affordable token budget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F6F6F"/>
                </a:solidFill>
                <a:latin typeface="Consolas"/>
              </a:rPr>
              <a:t>429: wait patiently · 5xx: retry · model fallback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285232"/>
            <a:ext cx="10820095" cy="713232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 w="1270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5394960"/>
            <a:ext cx="10271455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81818"/>
                </a:solidFill>
                <a:latin typeface="Consolas"/>
              </a:rPr>
              <a:t>TWO AI MODES   </a:t>
            </a:r>
            <a:r>
              <a:rPr sz="1100" b="0">
                <a:solidFill>
                  <a:srgbClr val="181818"/>
                </a:solidFill>
                <a:latin typeface="Segoe UI"/>
              </a:rPr>
              <a:t>Auto insight — one 40-word answer per step after a 0.75 s pause (12/run, cached)   ·   Ask tutor — full conversation grounded in the selected step.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1">
                <a:solidFill>
                  <a:srgbClr val="181818"/>
                </a:solidFill>
                <a:latin typeface="Consolas"/>
              </a:rPr>
              <a:t>WHY IT'S DIFFERENT   </a:t>
            </a:r>
            <a:r>
              <a:rPr sz="1100" b="0">
                <a:solidFill>
                  <a:srgbClr val="6F6F6F"/>
                </a:solidFill>
                <a:latin typeface="Segoe UI"/>
              </a:rPr>
              <a:t>Deterministic step story renders instantly and offline; AI only enhances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17320" cy="64008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6364224"/>
            <a:ext cx="10820095" cy="12801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55664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60">
                <a:solidFill>
                  <a:srgbClr val="6F6F6F"/>
                </a:solidFill>
                <a:latin typeface="Consolas"/>
              </a:rPr>
              <a:t>PRIZM  ·  ABHYUDAY 2026  ·  Startup India Hackathon-cum-Mentorship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77095" y="6455664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60">
                <a:solidFill>
                  <a:srgbClr val="181818"/>
                </a:solidFill>
                <a:latin typeface="Consolas"/>
              </a:rPr>
              <a:t>05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50">
                <a:solidFill>
                  <a:srgbClr val="181818"/>
                </a:solidFill>
                <a:latin typeface="Consolas"/>
              </a:rPr>
              <a:t>05  ·  TECHNOLOGY &amp; IMPLEMENTATION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13232"/>
            <a:ext cx="108200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81818"/>
                </a:solidFill>
                <a:latin typeface="Segoe UI Semibold"/>
              </a:rPr>
              <a:t>Two pipelines, one shared contract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298448"/>
            <a:ext cx="10820095" cy="12801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1517904"/>
            <a:ext cx="2526715" cy="155448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 w="1270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517904"/>
            <a:ext cx="2526715" cy="4572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700784"/>
            <a:ext cx="21609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20">
                <a:solidFill>
                  <a:srgbClr val="181818"/>
                </a:solidFill>
                <a:latin typeface="Consolas"/>
              </a:rPr>
              <a:t>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011680"/>
            <a:ext cx="216095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181818"/>
                </a:solidFill>
                <a:latin typeface="Segoe UI"/>
              </a:rPr>
              <a:t>Next.js 15 + TypeScript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6F6F6F"/>
                </a:solidFill>
                <a:latin typeface="Segoe UI"/>
              </a:rPr>
              <a:t>Journey step-story layer + AI insight hook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6F6F6F"/>
                </a:solidFill>
                <a:latin typeface="Segoe UI"/>
              </a:rPr>
              <a:t>Responsive 320–1440 px shell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0259" y="1517904"/>
            <a:ext cx="2526715" cy="155448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 w="1270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0259" y="1517904"/>
            <a:ext cx="2526715" cy="4572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33139" y="1700784"/>
            <a:ext cx="21609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20">
                <a:solidFill>
                  <a:srgbClr val="181818"/>
                </a:solidFill>
                <a:latin typeface="Consolas"/>
              </a:rPr>
              <a:t>BACKEND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3139" y="2011680"/>
            <a:ext cx="216095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181818"/>
                </a:solidFill>
                <a:latin typeface="Segoe UI"/>
              </a:rPr>
              <a:t>FastAPI modular monolith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6F6F6F"/>
                </a:solidFill>
                <a:latin typeface="Segoe UI"/>
              </a:rPr>
              <a:t>Pydantic trace contracts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6F6F6F"/>
                </a:solidFill>
                <a:latin typeface="Segoe UI"/>
              </a:rPr>
              <a:t>Isolated child-process runner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4719" y="1517904"/>
            <a:ext cx="2526715" cy="155448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 w="1270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4719" y="1517904"/>
            <a:ext cx="2526715" cy="4572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97599" y="1700784"/>
            <a:ext cx="21609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20">
                <a:solidFill>
                  <a:srgbClr val="181818"/>
                </a:solidFill>
                <a:latin typeface="Consolas"/>
              </a:rPr>
              <a:t>TRACING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7599" y="2011680"/>
            <a:ext cx="216095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181818"/>
                </a:solidFill>
                <a:latin typeface="Segoe UI"/>
              </a:rPr>
              <a:t>9 runtime-backed engines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6F6F6F"/>
                </a:solidFill>
                <a:latin typeface="Segoe UI"/>
              </a:rPr>
              <a:t>Shared call / line / return / exception schema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6F6F6F"/>
                </a:solidFill>
                <a:latin typeface="Segoe UI"/>
              </a:rPr>
              <a:t>Per-frame value snapshots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79179" y="1517904"/>
            <a:ext cx="2526715" cy="155448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 w="1270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79179" y="1517904"/>
            <a:ext cx="2526715" cy="4572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62059" y="1700784"/>
            <a:ext cx="21609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20">
                <a:solidFill>
                  <a:srgbClr val="181818"/>
                </a:solidFill>
                <a:latin typeface="Consolas"/>
              </a:rPr>
              <a:t>AI LAYER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62059" y="2011680"/>
            <a:ext cx="216095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181818"/>
                </a:solidFill>
                <a:latin typeface="Segoe UI"/>
              </a:rPr>
              <a:t>OpenRouter chat completions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6F6F6F"/>
                </a:solidFill>
                <a:latin typeface="Segoe UI"/>
              </a:rPr>
              <a:t>Trace evidence + learner level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6F6F6F"/>
                </a:solidFill>
                <a:latin typeface="Segoe UI"/>
              </a:rPr>
              <a:t>Continuation + fallback chain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3300984"/>
            <a:ext cx="2526715" cy="1371600"/>
          </a:xfrm>
          <a:prstGeom prst="roundRect">
            <a:avLst>
              <a:gd name="adj" fmla="val 7000"/>
            </a:avLst>
          </a:prstGeom>
          <a:noFill/>
          <a:ln w="1270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3465576"/>
            <a:ext cx="216095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1818"/>
                </a:solidFill>
                <a:latin typeface="Consolas"/>
              </a:rPr>
              <a:t>9 trace engines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3831335"/>
            <a:ext cx="216095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F6F6F"/>
                </a:solidFill>
                <a:latin typeface="Segoe UI"/>
              </a:rPr>
              <a:t>Python · JavaScript · TypeScript · Java · Kotlin · C · C++ · Go · Ruby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50259" y="3300984"/>
            <a:ext cx="2526715" cy="1371600"/>
          </a:xfrm>
          <a:prstGeom prst="roundRect">
            <a:avLst>
              <a:gd name="adj" fmla="val 7000"/>
            </a:avLst>
          </a:prstGeom>
          <a:noFill/>
          <a:ln w="1270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33139" y="3465576"/>
            <a:ext cx="216095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1818"/>
                </a:solidFill>
                <a:latin typeface="Consolas"/>
              </a:rPr>
              <a:t>13 language modes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33139" y="3831335"/>
            <a:ext cx="216095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F6F6F"/>
                </a:solidFill>
                <a:latin typeface="Segoe UI"/>
              </a:rPr>
              <a:t>Three additional run-only languages plus sandboxed HTML/CSS/JS preview.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4719" y="3300984"/>
            <a:ext cx="2526715" cy="1371600"/>
          </a:xfrm>
          <a:prstGeom prst="roundRect">
            <a:avLst>
              <a:gd name="adj" fmla="val 7000"/>
            </a:avLst>
          </a:prstGeom>
          <a:noFill/>
          <a:ln w="1270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97599" y="3465576"/>
            <a:ext cx="216095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1818"/>
                </a:solidFill>
                <a:latin typeface="Consolas"/>
              </a:rPr>
              <a:t>3 s / 2000 events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97599" y="3831335"/>
            <a:ext cx="216095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F6F6F"/>
                </a:solidFill>
                <a:latin typeface="Segoe UI"/>
              </a:rPr>
              <a:t>Core Python tracer soft limit; capped trace keeps partial events on abort.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79179" y="3300984"/>
            <a:ext cx="2526715" cy="1371600"/>
          </a:xfrm>
          <a:prstGeom prst="roundRect">
            <a:avLst>
              <a:gd name="adj" fmla="val 7000"/>
            </a:avLst>
          </a:prstGeom>
          <a:noFill/>
          <a:ln w="1270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62059" y="3465576"/>
            <a:ext cx="216095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1818"/>
                </a:solidFill>
                <a:latin typeface="Consolas"/>
              </a:rPr>
              <a:t>160 QA checks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62059" y="3831335"/>
            <a:ext cx="216095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F6F6F"/>
                </a:solidFill>
                <a:latin typeface="Segoe UI"/>
              </a:rPr>
              <a:t>67 backend tests + 17 UI interaction + 76 responsive screens — all passing.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5800" y="4901183"/>
            <a:ext cx="10820095" cy="109728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 w="19050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120" y="5065776"/>
            <a:ext cx="102714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81818"/>
                </a:solidFill>
                <a:latin typeface="Consolas"/>
              </a:rPr>
              <a:t>CURRENT SCOPE   </a:t>
            </a:r>
            <a:r>
              <a:rPr sz="1300" b="1">
                <a:solidFill>
                  <a:srgbClr val="181818"/>
                </a:solidFill>
                <a:latin typeface="Segoe UI"/>
              </a:rPr>
              <a:t>13 modes · 9 trace engines · 160 QA checks</a:t>
            </a:r>
            <a:r>
              <a:rPr sz="1200" b="0">
                <a:solidFill>
                  <a:srgbClr val="6F6F6F"/>
                </a:solidFill>
                <a:latin typeface="Segoe UI"/>
              </a:rPr>
              <a:t>  ·  six demo samples  ·  </a:t>
            </a:r>
            <a:r>
              <a:rPr sz="1300" b="1">
                <a:solidFill>
                  <a:srgbClr val="181818"/>
                </a:solidFill>
                <a:latin typeface="Segoe UI"/>
              </a:rPr>
              <a:t>5 / 30 daily visualizations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1100" b="0" i="0">
                <a:solidFill>
                  <a:srgbClr val="6F6F6F"/>
                </a:solidFill>
                <a:latin typeface="Segoe UI"/>
              </a:rPr>
              <a:t>Limits vary by engine. Core Python: 3 s soft limit, 2,000 events, 64 KB output; run sessions: 90 s / 128 KB. Estimated infra cost ≈ $0.002–0.01 (₹0.2–0.9) per traced run on a small VM (planning estimate). Child-process isolation is demo-grade, not a production sandbox.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17320" cy="64008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6364224"/>
            <a:ext cx="10820095" cy="12801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55664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60">
                <a:solidFill>
                  <a:srgbClr val="6F6F6F"/>
                </a:solidFill>
                <a:latin typeface="Consolas"/>
              </a:rPr>
              <a:t>PRIZM  ·  ABHYUDAY 2026  ·  Startup India Hackathon-cum-Mentorship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77095" y="6455664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60">
                <a:solidFill>
                  <a:srgbClr val="181818"/>
                </a:solidFill>
                <a:latin typeface="Consolas"/>
              </a:rPr>
              <a:t>06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50">
                <a:solidFill>
                  <a:srgbClr val="181818"/>
                </a:solidFill>
                <a:latin typeface="Consolas"/>
              </a:rPr>
              <a:t>06  ·  MIND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13232"/>
            <a:ext cx="108200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81818"/>
                </a:solidFill>
                <a:latin typeface="Segoe UI Semibold"/>
              </a:rPr>
              <a:t>How the system thinks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298448"/>
            <a:ext cx="10820095" cy="12801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1517904"/>
            <a:ext cx="4114800" cy="160020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 w="1270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682495"/>
            <a:ext cx="36758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81818"/>
                </a:solidFill>
                <a:latin typeface="Consolas"/>
              </a:rPr>
              <a:t>RUNTIME</a:t>
            </a:r>
            <a:r>
              <a:rPr sz="1200" b="0">
                <a:solidFill>
                  <a:srgbClr val="6F6F6F"/>
                </a:solidFill>
                <a:latin typeface="Consolas"/>
              </a:rPr>
              <a:t>   ──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020824"/>
            <a:ext cx="3675887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81818"/>
                </a:solidFill>
                <a:latin typeface="Segoe UI"/>
              </a:rPr>
              <a:t>Real runner per language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F6F6F"/>
                </a:solidFill>
                <a:latin typeface="Segoe UI"/>
              </a:rPr>
              <a:t>9 step-through engines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F6F6F"/>
                </a:solidFill>
                <a:latin typeface="Segoe UI"/>
              </a:rPr>
              <a:t>Limits depend on engine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88352" y="1517904"/>
            <a:ext cx="4114800" cy="160020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 w="1270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07808" y="1682495"/>
            <a:ext cx="36758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81818"/>
                </a:solidFill>
                <a:latin typeface="Consolas"/>
              </a:rPr>
              <a:t>JOURNEY</a:t>
            </a:r>
            <a:r>
              <a:rPr sz="1200" b="0">
                <a:solidFill>
                  <a:srgbClr val="6F6F6F"/>
                </a:solidFill>
                <a:latin typeface="Consolas"/>
              </a:rPr>
              <a:t>   ──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07808" y="2020824"/>
            <a:ext cx="3675887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81818"/>
                </a:solidFill>
                <a:latin typeface="Segoe UI"/>
              </a:rPr>
              <a:t>Step story from real trace data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F6F6F"/>
                </a:solidFill>
                <a:latin typeface="Segoe UI"/>
              </a:rPr>
              <a:t>5 panels: journey · state · flow · tree · values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F6F6F"/>
                </a:solidFill>
                <a:latin typeface="Segoe UI"/>
              </a:rPr>
              <a:t>Hot-path flowchart animation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306824"/>
            <a:ext cx="4114800" cy="160020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 w="1270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" y="4471416"/>
            <a:ext cx="36758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81818"/>
                </a:solidFill>
                <a:latin typeface="Consolas"/>
              </a:rPr>
              <a:t>AI TUTOR</a:t>
            </a:r>
            <a:r>
              <a:rPr sz="1200" b="0">
                <a:solidFill>
                  <a:srgbClr val="6F6F6F"/>
                </a:solidFill>
                <a:latin typeface="Consolas"/>
              </a:rPr>
              <a:t>   ──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809744"/>
            <a:ext cx="3675887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81818"/>
                </a:solidFill>
                <a:latin typeface="Segoe UI"/>
              </a:rPr>
              <a:t>Auto insight per step (12/run)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F6F6F"/>
                </a:solidFill>
                <a:latin typeface="Segoe UI"/>
              </a:rPr>
              <a:t>Ask-tutor grounded in trace evidence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F6F6F"/>
                </a:solidFill>
                <a:latin typeface="Segoe UI"/>
              </a:rPr>
              <a:t>Fallback on cost / availability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88352" y="4306824"/>
            <a:ext cx="4114800" cy="160020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 w="1270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07808" y="4471416"/>
            <a:ext cx="36758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81818"/>
                </a:solidFill>
                <a:latin typeface="Consolas"/>
              </a:rPr>
              <a:t>PRODUCT</a:t>
            </a:r>
            <a:r>
              <a:rPr sz="1200" b="0">
                <a:solidFill>
                  <a:srgbClr val="6F6F6F"/>
                </a:solidFill>
                <a:latin typeface="Consolas"/>
              </a:rPr>
              <a:t>   ──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07808" y="4809744"/>
            <a:ext cx="3675887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81818"/>
                </a:solidFill>
                <a:latin typeface="Segoe UI"/>
              </a:rPr>
              <a:t>13 language modes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F6F6F"/>
                </a:solidFill>
                <a:latin typeface="Segoe UI"/>
              </a:rPr>
              <a:t>5 Free / 30 Pro daily traces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F6F6F"/>
                </a:solidFill>
                <a:latin typeface="Segoe UI"/>
              </a:rPr>
              <a:t>Checkout is a no-charge demo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83480" y="3291840"/>
            <a:ext cx="2231136" cy="1051560"/>
          </a:xfrm>
          <a:prstGeom prst="roundRect">
            <a:avLst>
              <a:gd name="adj" fmla="val 7000"/>
            </a:avLst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83480" y="3474720"/>
            <a:ext cx="223113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Segoe UI Semibold"/>
              </a:rPr>
              <a:t>PRIZM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nsolas"/>
              </a:rPr>
              <a:t>trace ⇄ explain</a:t>
            </a:r>
          </a:p>
        </p:txBody>
      </p:sp>
      <p:cxnSp>
        <p:nvCxnSpPr>
          <p:cNvPr id="24" name="Connector 23"/>
          <p:cNvCxnSpPr/>
          <p:nvPr/>
        </p:nvCxnSpPr>
        <p:spPr>
          <a:xfrm flipH="1" flipV="1">
            <a:off x="4800600" y="2843784"/>
            <a:ext cx="182880" cy="722376"/>
          </a:xfrm>
          <a:prstGeom prst="line">
            <a:avLst/>
          </a:prstGeom>
          <a:ln w="17780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7214616" y="2843784"/>
            <a:ext cx="173736" cy="722376"/>
          </a:xfrm>
          <a:prstGeom prst="line">
            <a:avLst/>
          </a:prstGeom>
          <a:ln w="17780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4800600" y="4069080"/>
            <a:ext cx="182880" cy="512064"/>
          </a:xfrm>
          <a:prstGeom prst="line">
            <a:avLst/>
          </a:prstGeom>
          <a:ln w="17780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214616" y="4069080"/>
            <a:ext cx="173736" cy="512064"/>
          </a:xfrm>
          <a:prstGeom prst="line">
            <a:avLst/>
          </a:prstGeom>
          <a:ln w="17780">
            <a:solidFill>
              <a:srgbClr val="1818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17320" cy="64008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6364224"/>
            <a:ext cx="10820095" cy="12801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55664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60">
                <a:solidFill>
                  <a:srgbClr val="6F6F6F"/>
                </a:solidFill>
                <a:latin typeface="Consolas"/>
              </a:rPr>
              <a:t>PRIZM  ·  ABHYUDAY 2026  ·  Startup India Hackathon-cum-Mentorship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77095" y="6455664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60">
                <a:solidFill>
                  <a:srgbClr val="181818"/>
                </a:solidFill>
                <a:latin typeface="Consolas"/>
              </a:rPr>
              <a:t>07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50">
                <a:solidFill>
                  <a:srgbClr val="181818"/>
                </a:solidFill>
                <a:latin typeface="Consolas"/>
              </a:rPr>
              <a:t>07  · 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13232"/>
            <a:ext cx="108200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81818"/>
                </a:solidFill>
                <a:latin typeface="Segoe UI Semibold"/>
              </a:rPr>
              <a:t>From keystroke to explanation, in one pass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298448"/>
            <a:ext cx="10820095" cy="12801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entagon 9"/>
          <p:cNvSpPr/>
          <p:nvPr/>
        </p:nvSpPr>
        <p:spPr>
          <a:xfrm>
            <a:off x="685800" y="1517904"/>
            <a:ext cx="1938528" cy="960120"/>
          </a:xfrm>
          <a:prstGeom prst="homePlate">
            <a:avLst/>
          </a:prstGeom>
          <a:solidFill>
            <a:srgbClr val="F4F4F4"/>
          </a:solidFill>
          <a:ln w="1524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181818"/>
                </a:solidFill>
                <a:latin typeface="Segoe UI"/>
              </a:rPr>
              <a:t>Write code</a:t>
            </a:r>
          </a:p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181818"/>
                </a:solidFill>
                <a:latin typeface="Segoe UI"/>
              </a:rPr>
              <a:t>in editor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69464"/>
            <a:ext cx="17556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80">
                <a:solidFill>
                  <a:srgbClr val="181818"/>
                </a:solidFill>
                <a:latin typeface="Consolas"/>
              </a:rPr>
              <a:t>step 1</a:t>
            </a:r>
          </a:p>
        </p:txBody>
      </p:sp>
      <p:sp>
        <p:nvSpPr>
          <p:cNvPr id="12" name="Chevron 11"/>
          <p:cNvSpPr/>
          <p:nvPr/>
        </p:nvSpPr>
        <p:spPr>
          <a:xfrm>
            <a:off x="2462113" y="1517904"/>
            <a:ext cx="1938528" cy="960120"/>
          </a:xfrm>
          <a:prstGeom prst="chevron">
            <a:avLst/>
          </a:prstGeom>
          <a:solidFill>
            <a:srgbClr val="F4F4F4"/>
          </a:solidFill>
          <a:ln w="1524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181818"/>
                </a:solidFill>
                <a:latin typeface="Segoe UI"/>
              </a:rPr>
              <a:t>POST</a:t>
            </a:r>
          </a:p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181818"/>
                </a:solidFill>
                <a:latin typeface="Segoe UI"/>
              </a:rPr>
              <a:t>/executions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53553" y="2569464"/>
            <a:ext cx="17556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80">
                <a:solidFill>
                  <a:srgbClr val="181818"/>
                </a:solidFill>
                <a:latin typeface="Consolas"/>
              </a:rPr>
              <a:t>step 2</a:t>
            </a:r>
          </a:p>
        </p:txBody>
      </p:sp>
      <p:sp>
        <p:nvSpPr>
          <p:cNvPr id="14" name="Chevron 13"/>
          <p:cNvSpPr/>
          <p:nvPr/>
        </p:nvSpPr>
        <p:spPr>
          <a:xfrm>
            <a:off x="4238426" y="1517904"/>
            <a:ext cx="1938528" cy="960120"/>
          </a:xfrm>
          <a:prstGeom prst="chevron">
            <a:avLst/>
          </a:prstGeom>
          <a:solidFill>
            <a:srgbClr val="181818"/>
          </a:solidFill>
          <a:ln w="15240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FFFFF"/>
                </a:solidFill>
                <a:latin typeface="Segoe UI"/>
              </a:rPr>
              <a:t>Language</a:t>
            </a:r>
          </a:p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FFFFFF"/>
                </a:solidFill>
                <a:latin typeface="Segoe UI"/>
              </a:rPr>
              <a:t>trace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9866" y="2569464"/>
            <a:ext cx="17556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80">
                <a:solidFill>
                  <a:srgbClr val="181818"/>
                </a:solidFill>
                <a:latin typeface="Consolas"/>
              </a:rPr>
              <a:t>step 3</a:t>
            </a:r>
          </a:p>
        </p:txBody>
      </p:sp>
      <p:sp>
        <p:nvSpPr>
          <p:cNvPr id="16" name="Chevron 15"/>
          <p:cNvSpPr/>
          <p:nvPr/>
        </p:nvSpPr>
        <p:spPr>
          <a:xfrm>
            <a:off x="6014740" y="1517904"/>
            <a:ext cx="1938528" cy="960120"/>
          </a:xfrm>
          <a:prstGeom prst="chevron">
            <a:avLst/>
          </a:prstGeom>
          <a:solidFill>
            <a:srgbClr val="F4F4F4"/>
          </a:solidFill>
          <a:ln w="1524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181818"/>
                </a:solidFill>
                <a:latin typeface="Segoe UI"/>
              </a:rPr>
              <a:t>Shared</a:t>
            </a:r>
          </a:p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181818"/>
                </a:solidFill>
                <a:latin typeface="Segoe UI"/>
              </a:rPr>
              <a:t>trace schema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06180" y="2569464"/>
            <a:ext cx="17556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80">
                <a:solidFill>
                  <a:srgbClr val="181818"/>
                </a:solidFill>
                <a:latin typeface="Consolas"/>
              </a:rPr>
              <a:t>step 4</a:t>
            </a:r>
          </a:p>
        </p:txBody>
      </p:sp>
      <p:sp>
        <p:nvSpPr>
          <p:cNvPr id="18" name="Chevron 17"/>
          <p:cNvSpPr/>
          <p:nvPr/>
        </p:nvSpPr>
        <p:spPr>
          <a:xfrm>
            <a:off x="7791053" y="1517904"/>
            <a:ext cx="1938528" cy="960120"/>
          </a:xfrm>
          <a:prstGeom prst="chevron">
            <a:avLst/>
          </a:prstGeom>
          <a:solidFill>
            <a:srgbClr val="181818"/>
          </a:solidFill>
          <a:ln w="15240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FFFFF"/>
                </a:solidFill>
                <a:latin typeface="Segoe UI"/>
              </a:rPr>
              <a:t>Step story</a:t>
            </a:r>
          </a:p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FFFFFF"/>
                </a:solidFill>
                <a:latin typeface="Segoe UI"/>
              </a:rPr>
              <a:t>+ AI insight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82493" y="2569464"/>
            <a:ext cx="17556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80">
                <a:solidFill>
                  <a:srgbClr val="181818"/>
                </a:solidFill>
                <a:latin typeface="Consolas"/>
              </a:rPr>
              <a:t>step 5</a:t>
            </a:r>
          </a:p>
        </p:txBody>
      </p:sp>
      <p:sp>
        <p:nvSpPr>
          <p:cNvPr id="20" name="Chevron 19"/>
          <p:cNvSpPr/>
          <p:nvPr/>
        </p:nvSpPr>
        <p:spPr>
          <a:xfrm>
            <a:off x="9567367" y="1517904"/>
            <a:ext cx="1938528" cy="960120"/>
          </a:xfrm>
          <a:prstGeom prst="chevron">
            <a:avLst/>
          </a:prstGeom>
          <a:solidFill>
            <a:srgbClr val="F4F4F4"/>
          </a:solidFill>
          <a:ln w="1524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181818"/>
                </a:solidFill>
                <a:latin typeface="Segoe UI"/>
              </a:rPr>
              <a:t>5-panel</a:t>
            </a:r>
          </a:p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181818"/>
                </a:solidFill>
                <a:latin typeface="Segoe UI"/>
              </a:rPr>
              <a:t>visual state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58807" y="2569464"/>
            <a:ext cx="17556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80">
                <a:solidFill>
                  <a:srgbClr val="181818"/>
                </a:solidFill>
                <a:latin typeface="Consolas"/>
              </a:rPr>
              <a:t>step 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072384"/>
            <a:ext cx="5303520" cy="146304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 w="1270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" y="3236976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20">
                <a:solidFill>
                  <a:srgbClr val="181818"/>
                </a:solidFill>
                <a:latin typeface="Consolas"/>
              </a:rPr>
              <a:t>EDITOR → PLAYBACK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" y="3547872"/>
            <a:ext cx="48463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81818"/>
                </a:solidFill>
                <a:latin typeface="Segoe UI"/>
              </a:rPr>
              <a:t>Editor and /visualize share code, language and recorded trace — no re-running to go backwards. Every step gets a headline, what-happened, why-it-matters and a preview of next, built instantly from real values. Keyboard: ←/→, space, Home/End; speeds: 0.5×, 1×, 2×. Python flowchart nodes jump to a line.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45352" y="3072384"/>
            <a:ext cx="5257800" cy="146304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 w="19050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83096" y="3236976"/>
            <a:ext cx="4800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20">
                <a:solidFill>
                  <a:srgbClr val="181818"/>
                </a:solidFill>
                <a:latin typeface="Consolas"/>
              </a:rPr>
              <a:t>ASK-BRANCH (AI LEARNING PIPELINE)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83096" y="3547872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81818"/>
                </a:solidFill>
                <a:latin typeface="Segoe UI"/>
              </a:rPr>
              <a:t>Pause a step → 40-word AI insight appears (12/run budget, cached). Ask freely → tutor receives source, level and the selected trace evidence → grounded explanation; a complete `prizm` file can be applied back into the editor.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4764024"/>
            <a:ext cx="10820095" cy="777240"/>
          </a:xfrm>
          <a:prstGeom prst="roundRect">
            <a:avLst>
              <a:gd name="adj" fmla="val 7000"/>
            </a:avLst>
          </a:prstGeom>
          <a:noFill/>
          <a:ln w="1270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4919472"/>
            <a:ext cx="1027145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81818"/>
                </a:solidFill>
                <a:latin typeface="Consolas"/>
              </a:rPr>
              <a:t>SAFETY ON EVERY PASS   </a:t>
            </a:r>
            <a:r>
              <a:rPr sz="1200" b="0">
                <a:solidFill>
                  <a:srgbClr val="181818"/>
                </a:solidFill>
                <a:latin typeface="Segoe UI"/>
              </a:rPr>
              <a:t>3.0 s soft limit  ·  2000 events  ·  64 KB output  ·  10 s hard kill  ·  filtered environment (19 allow-listed vars, no secrets)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17320" cy="64008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6364224"/>
            <a:ext cx="10820095" cy="12801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55664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60">
                <a:solidFill>
                  <a:srgbClr val="6F6F6F"/>
                </a:solidFill>
                <a:latin typeface="Consolas"/>
              </a:rPr>
              <a:t>PRIZM  ·  ABHYUDAY 2026  ·  Startup India Hackathon-cum-Mentorship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77095" y="6455664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60">
                <a:solidFill>
                  <a:srgbClr val="181818"/>
                </a:solidFill>
                <a:latin typeface="Consolas"/>
              </a:rPr>
              <a:t>08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50">
                <a:solidFill>
                  <a:srgbClr val="181818"/>
                </a:solidFill>
                <a:latin typeface="Consolas"/>
              </a:rPr>
              <a:t>08  ·  PROTOTYPE /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13232"/>
            <a:ext cx="108200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81818"/>
                </a:solidFill>
                <a:latin typeface="Segoe UI Semibold"/>
              </a:rPr>
              <a:t>Working prototype — navigate the current workspace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298448"/>
            <a:ext cx="10820095" cy="12801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3273552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6F6F6F"/>
                </a:solidFill>
                <a:latin typeface="Segoe UI"/>
              </a:rPr>
              <a:t>Optional tutor key: OPENROUTER_API_KEY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517904"/>
            <a:ext cx="3931920" cy="274320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 w="19050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1700784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10">
                <a:solidFill>
                  <a:srgbClr val="181818"/>
                </a:solidFill>
                <a:latin typeface="Consolas"/>
              </a:rPr>
              <a:t>STATUS: RUNNING LOCALLY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048255"/>
            <a:ext cx="347472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181818"/>
                </a:solidFill>
                <a:latin typeface="Consolas"/>
              </a:rPr>
              <a:t>backend   uvicorn app.main:app  :8000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6F6F6F"/>
                </a:solidFill>
                <a:latin typeface="Consolas"/>
              </a:rPr>
              <a:t>frontend   npm run dev  →  :3000/editor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6F6F6F"/>
                </a:solidFill>
                <a:latin typeface="Consolas"/>
              </a:rPr>
              <a:t>tutor       OPENROUTER_API_KEY in .env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6F6F6F"/>
                </a:solidFill>
                <a:latin typeface="Consolas"/>
              </a:rPr>
              <a:t>qa           67 + 17 + 76 checks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950" b="0" i="1">
                <a:solidFill>
                  <a:srgbClr val="6F6F6F"/>
                </a:solidFill>
                <a:latin typeface="Segoe UI"/>
              </a:rPr>
              <a:t>Runtime availability is reported by /api/languages.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1499616"/>
            <a:ext cx="6629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81818"/>
                </a:solidFill>
                <a:latin typeface="Segoe UI Semibold"/>
              </a:rPr>
              <a:t>01   Open /editor → pick a language in the strip; runtime availability shown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1956816"/>
            <a:ext cx="6629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81818"/>
                </a:solidFill>
                <a:latin typeface="Segoe UI Semibold"/>
              </a:rPr>
              <a:t>02   Run code → interactive console, stdin and stop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2414016"/>
            <a:ext cx="6629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81818"/>
                </a:solidFill>
                <a:latin typeface="Segoe UI Semibold"/>
              </a:rPr>
              <a:t>03   Visualize opens the Journey: headline, what/why/next for every step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2871216"/>
            <a:ext cx="6629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81818"/>
                </a:solidFill>
                <a:latin typeface="Segoe UI Semibold"/>
              </a:rPr>
              <a:t>04   Pause → AI insight appears; ask the tutor anything about that step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3328416"/>
            <a:ext cx="6629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81818"/>
                </a:solidFill>
                <a:latin typeface="Segoe UI Semibold"/>
              </a:rPr>
              <a:t>05   Step with ←/→ or space; speed 0.5× / 1× / 2×; 5 panels incl. hot-path flowchart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3785616"/>
            <a:ext cx="6629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81818"/>
                </a:solidFill>
                <a:latin typeface="Segoe UI Semibold"/>
              </a:rPr>
              <a:t>06   Ask for a full-file fix; apply the suggested code straight into the editor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489704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30">
                <a:solidFill>
                  <a:srgbClr val="181818"/>
                </a:solidFill>
                <a:latin typeface="Consolas"/>
              </a:rPr>
              <a:t>INCLUDED SAMPLE PROGRAMS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791456"/>
            <a:ext cx="1678838" cy="329184"/>
          </a:xfrm>
          <a:prstGeom prst="roundRect">
            <a:avLst>
              <a:gd name="adj" fmla="val 50000"/>
            </a:avLst>
          </a:prstGeom>
          <a:noFill/>
          <a:ln w="13970">
            <a:solidFill>
              <a:srgbClr val="6F6F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841748"/>
            <a:ext cx="167883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6F6F6F"/>
                </a:solidFill>
                <a:latin typeface="Consolas"/>
              </a:rPr>
              <a:t>python_showcase.py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10942" y="4791456"/>
            <a:ext cx="1903780" cy="329184"/>
          </a:xfrm>
          <a:prstGeom prst="roundRect">
            <a:avLst>
              <a:gd name="adj" fmla="val 50000"/>
            </a:avLst>
          </a:prstGeom>
          <a:noFill/>
          <a:ln w="13970">
            <a:solidFill>
              <a:srgbClr val="6F6F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0942" y="4841748"/>
            <a:ext cx="19037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6F6F6F"/>
                </a:solidFill>
                <a:latin typeface="Consolas"/>
              </a:rPr>
              <a:t>python_interactive.py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61027" y="4791456"/>
            <a:ext cx="1453895" cy="329184"/>
          </a:xfrm>
          <a:prstGeom prst="roundRect">
            <a:avLst>
              <a:gd name="adj" fmla="val 50000"/>
            </a:avLst>
          </a:prstGeom>
          <a:noFill/>
          <a:ln w="13970">
            <a:solidFill>
              <a:srgbClr val="6F6F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61027" y="4841748"/>
            <a:ext cx="145389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6F6F6F"/>
                </a:solidFill>
                <a:latin typeface="Consolas"/>
              </a:rPr>
              <a:t>python_crash.py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61227" y="4791456"/>
            <a:ext cx="779068" cy="329184"/>
          </a:xfrm>
          <a:prstGeom prst="roundRect">
            <a:avLst>
              <a:gd name="adj" fmla="val 50000"/>
            </a:avLst>
          </a:prstGeom>
          <a:noFill/>
          <a:ln w="13970">
            <a:solidFill>
              <a:srgbClr val="6F6F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61227" y="4841748"/>
            <a:ext cx="77906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6F6F6F"/>
                </a:solidFill>
                <a:latin typeface="Consolas"/>
              </a:rPr>
              <a:t>fib.js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86600" y="4791456"/>
            <a:ext cx="1303934" cy="329184"/>
          </a:xfrm>
          <a:prstGeom prst="roundRect">
            <a:avLst>
              <a:gd name="adj" fmla="val 50000"/>
            </a:avLst>
          </a:prstGeom>
          <a:noFill/>
          <a:ln w="13970">
            <a:solidFill>
              <a:srgbClr val="6F6F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86600" y="4841748"/>
            <a:ext cx="130393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6F6F6F"/>
                </a:solidFill>
                <a:latin typeface="Consolas"/>
              </a:rPr>
              <a:t>sum_input.cpp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36838" y="4791456"/>
            <a:ext cx="1004011" cy="329184"/>
          </a:xfrm>
          <a:prstGeom prst="roundRect">
            <a:avLst>
              <a:gd name="adj" fmla="val 50000"/>
            </a:avLst>
          </a:prstGeom>
          <a:noFill/>
          <a:ln w="13970">
            <a:solidFill>
              <a:srgbClr val="6F6F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36838" y="4841748"/>
            <a:ext cx="1004011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6F6F6F"/>
                </a:solidFill>
                <a:latin typeface="Consolas"/>
              </a:rPr>
              <a:t>Main.java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5266944"/>
            <a:ext cx="10820095" cy="50292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 w="1270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" y="5394960"/>
            <a:ext cx="102714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81818"/>
                </a:solidFill>
                <a:latin typeface="Consolas"/>
              </a:rPr>
              <a:t>IMPLEMENTED   </a:t>
            </a:r>
            <a:r>
              <a:rPr sz="1150" b="0">
                <a:solidFill>
                  <a:srgbClr val="181818"/>
                </a:solidFill>
                <a:latin typeface="Segoe UI"/>
              </a:rPr>
              <a:t>9 trace engines · 13 language modes · Journey step stories · per-step AI insight · hot-path flowchart · SQLite credit metering · responsive 320–1440 px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17320" cy="64008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6364224"/>
            <a:ext cx="10820095" cy="12801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55664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60">
                <a:solidFill>
                  <a:srgbClr val="6F6F6F"/>
                </a:solidFill>
                <a:latin typeface="Consolas"/>
              </a:rPr>
              <a:t>PRIZM  ·  ABHYUDAY 2026  ·  Startup India Hackathon-cum-Mentorship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77095" y="6455664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60">
                <a:solidFill>
                  <a:srgbClr val="181818"/>
                </a:solidFill>
                <a:latin typeface="Consolas"/>
              </a:rPr>
              <a:t>09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50">
                <a:solidFill>
                  <a:srgbClr val="181818"/>
                </a:solidFill>
                <a:latin typeface="Consolas"/>
              </a:rPr>
              <a:t>09  ·  TARGET USERS &amp; MARKET POTENTIAL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13232"/>
            <a:ext cx="108200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81818"/>
                </a:solidFill>
                <a:latin typeface="Segoe UI Semibold"/>
              </a:rPr>
              <a:t>Who benefits from seeing code execute step by step?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298448"/>
            <a:ext cx="10820095" cy="12801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1517904"/>
            <a:ext cx="2526715" cy="141732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 w="1270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82495"/>
            <a:ext cx="216095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00">
                <a:solidFill>
                  <a:srgbClr val="181818"/>
                </a:solidFill>
                <a:latin typeface="Consolas"/>
              </a:rPr>
              <a:t>STUDENTS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011680"/>
            <a:ext cx="21609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F6F6F"/>
                </a:solidFill>
                <a:latin typeface="Segoe UI"/>
              </a:rPr>
              <a:t>Explore variables, loops, functions and recursion through real execution, not just final output.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50259" y="1517904"/>
            <a:ext cx="2526715" cy="141732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 w="1270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3139" y="1682495"/>
            <a:ext cx="216095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00">
                <a:solidFill>
                  <a:srgbClr val="181818"/>
                </a:solidFill>
                <a:latin typeface="Consolas"/>
              </a:rPr>
              <a:t>EDUCATORS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3139" y="2011680"/>
            <a:ext cx="21609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F6F6F"/>
                </a:solidFill>
                <a:latin typeface="Segoe UI"/>
              </a:rPr>
              <a:t>Demonstrate program behavior step by step; cohort progress dashboards are future scope.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4719" y="1517904"/>
            <a:ext cx="2526715" cy="141732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 w="1270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7599" y="1682495"/>
            <a:ext cx="216095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00">
                <a:solidFill>
                  <a:srgbClr val="181818"/>
                </a:solidFill>
                <a:latin typeface="Consolas"/>
              </a:rPr>
              <a:t>SELF-LEARNERS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7599" y="2011680"/>
            <a:ext cx="21609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F6F6F"/>
                </a:solidFill>
                <a:latin typeface="Segoe UI"/>
              </a:rPr>
              <a:t>Ask about a selected step or get a general code explanation before running.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79179" y="1517904"/>
            <a:ext cx="2526715" cy="141732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 w="1270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62059" y="1682495"/>
            <a:ext cx="216095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00">
                <a:solidFill>
                  <a:srgbClr val="181818"/>
                </a:solidFill>
                <a:latin typeface="Consolas"/>
              </a:rPr>
              <a:t>DEVELOPERS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62059" y="2011680"/>
            <a:ext cx="21609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F6F6F"/>
                </a:solidFill>
                <a:latin typeface="Segoe UI"/>
              </a:rPr>
              <a:t>Inspect supported programs, call stacks, values and execution paths.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163824"/>
            <a:ext cx="5303520" cy="1371600"/>
          </a:xfrm>
          <a:prstGeom prst="roundRect">
            <a:avLst>
              <a:gd name="adj" fmla="val 7000"/>
            </a:avLst>
          </a:prstGeom>
          <a:noFill/>
          <a:ln w="1270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" y="3328416"/>
            <a:ext cx="48463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20">
                <a:solidFill>
                  <a:srgbClr val="181818"/>
                </a:solidFill>
                <a:latin typeface="Consolas"/>
              </a:rPr>
              <a:t>MARKET SIZE — APPROX. (ILLUSTRATIVE)</a:t>
            </a:r>
          </a:p>
          <a:p>
            <a:pPr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6F6F6F"/>
                </a:solidFill>
                <a:latin typeface="Segoe UI"/>
              </a:rPr>
              <a:t>TAM  ≈ $10 B (₹88,000 cr)  ·  global online coding education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6F6F6F"/>
                </a:solidFill>
                <a:latin typeface="Segoe UI"/>
              </a:rPr>
              <a:t>SAM  ≈ $1 B (₹8,800 cr)  ·  India + APAC tech learning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181818"/>
                </a:solidFill>
                <a:latin typeface="Segoe UI"/>
              </a:rPr>
              <a:t>SOM  ≈ 1,000 learners / 20 colleges in Year 1 (target)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45352" y="3163824"/>
            <a:ext cx="5257800" cy="1371600"/>
          </a:xfrm>
          <a:prstGeom prst="roundRect">
            <a:avLst>
              <a:gd name="adj" fmla="val 7000"/>
            </a:avLst>
          </a:prstGeom>
          <a:noFill/>
          <a:ln w="1270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3096" y="3328416"/>
            <a:ext cx="4800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20">
                <a:solidFill>
                  <a:srgbClr val="181818"/>
                </a:solidFill>
                <a:latin typeface="Consolas"/>
              </a:rPr>
              <a:t>GO-TO-MARKET — PHASED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83096" y="3621024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81818"/>
                </a:solidFill>
                <a:latin typeface="Segoe UI"/>
              </a:rPr>
              <a:t>1  College hackathons &amp; labs (built at Abhyuday 2026)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6F6F6F"/>
                </a:solidFill>
                <a:latin typeface="Segoe UI"/>
              </a:rPr>
              <a:t>2  Schools, bootcamps and self-learners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6F6F6F"/>
                </a:solidFill>
                <a:latin typeface="Segoe UI"/>
              </a:rPr>
              <a:t>3  LMS / ed-tech embedding via white-label 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718304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>
                <a:solidFill>
                  <a:srgbClr val="181818"/>
                </a:solidFill>
                <a:latin typeface="Consolas"/>
              </a:rPr>
              <a:t>MARKET &amp; YEAR-1 TARGETS — APPROX. / ILLUSTRATIVE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5029200"/>
            <a:ext cx="2526715" cy="86868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 w="1270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5157216"/>
            <a:ext cx="219753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81818"/>
                </a:solidFill>
                <a:latin typeface="Consolas"/>
              </a:rPr>
              <a:t>$10 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" y="5577840"/>
            <a:ext cx="2197531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F6F6F"/>
                </a:solidFill>
                <a:latin typeface="Segoe UI"/>
              </a:rPr>
              <a:t>global coding-ed TAM (est.)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50259" y="5029200"/>
            <a:ext cx="2526715" cy="86868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 w="1270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14851" y="5157216"/>
            <a:ext cx="219753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81818"/>
                </a:solidFill>
                <a:latin typeface="Consolas"/>
              </a:rPr>
              <a:t>$1 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14851" y="5577840"/>
            <a:ext cx="2197531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F6F6F"/>
                </a:solidFill>
                <a:latin typeface="Segoe UI"/>
              </a:rPr>
              <a:t>India + APAC SAM (est.)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4719" y="5029200"/>
            <a:ext cx="2526715" cy="86868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 w="1270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79311" y="5157216"/>
            <a:ext cx="219753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81818"/>
                </a:solidFill>
                <a:latin typeface="Consolas"/>
              </a:rPr>
              <a:t>1,000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79311" y="5577840"/>
            <a:ext cx="2197531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F6F6F"/>
                </a:solidFill>
                <a:latin typeface="Segoe UI"/>
              </a:rPr>
              <a:t>Year-1 learners (target)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79179" y="5029200"/>
            <a:ext cx="2526715" cy="86868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 w="1270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3771" y="5157216"/>
            <a:ext cx="219753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81818"/>
                </a:solidFill>
                <a:latin typeface="Consolas"/>
              </a:rPr>
              <a:t>50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3771" y="5577840"/>
            <a:ext cx="2197531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F6F6F"/>
                </a:solidFill>
                <a:latin typeface="Segoe UI"/>
              </a:rPr>
              <a:t>Pro users ≈ $250 / ₹22K MRR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17320" cy="64008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6364224"/>
            <a:ext cx="10820095" cy="12801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55664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60">
                <a:solidFill>
                  <a:srgbClr val="6F6F6F"/>
                </a:solidFill>
                <a:latin typeface="Consolas"/>
              </a:rPr>
              <a:t>PRIZM  ·  ABHYUDAY 2026  ·  Startup India Hackathon-cum-Mentorship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77095" y="6455664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60">
                <a:solidFill>
                  <a:srgbClr val="181818"/>
                </a:solidFill>
                <a:latin typeface="Consolas"/>
              </a:rPr>
              <a:t>10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50">
                <a:solidFill>
                  <a:srgbClr val="181818"/>
                </a:solidFill>
                <a:latin typeface="Consolas"/>
              </a:rPr>
              <a:t>10  ·  REVENUE MODEL &amp; ESTIMATED COST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13232"/>
            <a:ext cx="108200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81818"/>
                </a:solidFill>
                <a:latin typeface="Segoe UI Semibold"/>
              </a:rPr>
              <a:t>Free and Pro tiers exist — payment is still a demo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298448"/>
            <a:ext cx="10820095" cy="12801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517904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30">
                <a:solidFill>
                  <a:srgbClr val="181818"/>
                </a:solidFill>
                <a:latin typeface="Consolas"/>
              </a:rPr>
              <a:t>REVENUE STREAMS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828800"/>
            <a:ext cx="5303520" cy="786384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 w="1270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81818"/>
                </a:solidFill>
                <a:latin typeface="Segoe UI Semibold"/>
              </a:rPr>
              <a:t>Free  ·  $0 / ₹0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231136"/>
            <a:ext cx="4846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F6F6F"/>
                </a:solidFill>
                <a:latin typeface="Segoe UI"/>
              </a:rPr>
              <a:t>5 visualizations / day · run in 13 modes · tutor included.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706624"/>
            <a:ext cx="5303520" cy="786384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 w="19050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" y="2834640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81818"/>
                </a:solidFill>
                <a:latin typeface="Segoe UI Semibold"/>
              </a:rPr>
              <a:t>Pro  ·  $4.99 / mo (≈ ₹440)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108960"/>
            <a:ext cx="4846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F6F6F"/>
                </a:solidFill>
                <a:latin typeface="Segoe UI"/>
              </a:rPr>
              <a:t>30 visualizations / day · priority tracing · Pro badge.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584448"/>
            <a:ext cx="5303520" cy="786384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 w="1270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" y="3712463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81818"/>
                </a:solidFill>
                <a:latin typeface="Segoe UI Semibold"/>
              </a:rPr>
              <a:t>Payment status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" y="3986784"/>
            <a:ext cx="4846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F6F6F"/>
                </a:solidFill>
                <a:latin typeface="Segoe UI"/>
              </a:rPr>
              <a:t>Checkout is simulated: fields are ignored; no processor or charge.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462272"/>
            <a:ext cx="5303520" cy="786384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 w="1270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" y="4590288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81818"/>
                </a:solidFill>
                <a:latin typeface="Segoe UI Semibold"/>
              </a:rPr>
              <a:t>Institution licence (est.)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864608"/>
            <a:ext cx="4846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F6F6F"/>
                </a:solidFill>
                <a:latin typeface="Segoe UI"/>
              </a:rPr>
              <a:t>₹50K–2 L / lab / yr — proposal only, not built billing.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517904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10">
                <a:solidFill>
                  <a:srgbClr val="181818"/>
                </a:solidFill>
                <a:latin typeface="Consolas"/>
              </a:rPr>
              <a:t>COST MODEL — APPROX., PILOT ≈ 1,000 USERS / MONTH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45352" y="1883664"/>
            <a:ext cx="5257800" cy="274320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 w="1270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3096" y="201168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81818"/>
                </a:solidFill>
                <a:latin typeface="Segoe UI"/>
              </a:rPr>
              <a:t>Frontend hosting (Vercel Pro)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64040" y="20116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81818"/>
                </a:solidFill>
                <a:latin typeface="Consolas"/>
              </a:rPr>
              <a:t>$0–20 · ₹0–1.7K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83096" y="2350008"/>
            <a:ext cx="4782312" cy="7315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83096" y="2432304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81818"/>
                </a:solidFill>
                <a:latin typeface="Segoe UI"/>
              </a:rPr>
              <a:t>Backend VM / container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64040" y="243230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81818"/>
                </a:solidFill>
                <a:latin typeface="Consolas"/>
              </a:rPr>
              <a:t>$5–20 · ₹440–1.8K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83096" y="2770632"/>
            <a:ext cx="4782312" cy="7315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83096" y="285292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81818"/>
                </a:solidFill>
                <a:latin typeface="Segoe UI"/>
              </a:rPr>
              <a:t>OpenRouter AI tokens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64040" y="28529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81818"/>
                </a:solidFill>
                <a:latin typeface="Consolas"/>
              </a:rPr>
              <a:t>$15–50 · ₹1.3–4.4K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83096" y="3191256"/>
            <a:ext cx="4782312" cy="7315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83096" y="327355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81818"/>
                </a:solidFill>
                <a:latin typeface="Segoe UI"/>
              </a:rPr>
              <a:t>Domain, e-mail, monitoring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64040" y="32735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81818"/>
                </a:solidFill>
                <a:latin typeface="Consolas"/>
              </a:rPr>
              <a:t>$1–5 · ₹90–440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83096" y="3611880"/>
            <a:ext cx="4782312" cy="7315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83096" y="3694176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81818"/>
                </a:solidFill>
                <a:latin typeface="Segoe UI"/>
              </a:rPr>
              <a:t>Storage (SQLite → Postgres)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64040" y="369417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81818"/>
                </a:solidFill>
                <a:latin typeface="Consolas"/>
              </a:rPr>
              <a:t>$0–5 · ₹0–440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83096" y="4114800"/>
            <a:ext cx="4782312" cy="12801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83096" y="4261104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81818"/>
                </a:solidFill>
                <a:latin typeface="Segoe UI Semibold"/>
              </a:rPr>
              <a:t>Est. monthly total (pilot)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89720" y="423367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81818"/>
                </a:solidFill>
                <a:latin typeface="Consolas"/>
              </a:rPr>
              <a:t>≈ $21–100 · ₹1.8–8.8K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45352" y="4764024"/>
            <a:ext cx="5257800" cy="914400"/>
          </a:xfrm>
          <a:prstGeom prst="roundRect">
            <a:avLst>
              <a:gd name="adj" fmla="val 7000"/>
            </a:avLst>
          </a:prstGeom>
          <a:noFill/>
          <a:ln w="17780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83096" y="4882896"/>
            <a:ext cx="4800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81818"/>
                </a:solidFill>
                <a:latin typeface="Consolas"/>
              </a:rPr>
              <a:t>METERING   </a:t>
            </a:r>
            <a:r>
              <a:rPr sz="1050" b="0">
                <a:solidFill>
                  <a:srgbClr val="181818"/>
                </a:solidFill>
                <a:latin typeface="Segoe UI"/>
              </a:rPr>
              <a:t>1 visualization = 1 credit. Daily limits: Free 5, Pro 30. Run sessions and AI tutor are not charged credits. No actual payment yet.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181818"/>
                </a:solidFill>
                <a:latin typeface="Consolas"/>
              </a:rPr>
              <a:t>BREAK-EVEN   </a:t>
            </a:r>
            <a:r>
              <a:rPr sz="1050" b="0">
                <a:solidFill>
                  <a:srgbClr val="181818"/>
                </a:solidFill>
                <a:latin typeface="Segoe UI"/>
              </a:rPr>
              <a:t>≈ 5–20 Pro subscribers (50 × $4.99 ≈ $250 ≈ ₹22K MRR) cover the pilot run cost.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5800" y="5449824"/>
            <a:ext cx="5303520" cy="566928"/>
          </a:xfrm>
          <a:prstGeom prst="roundRect">
            <a:avLst>
              <a:gd name="adj" fmla="val 7000"/>
            </a:avLst>
          </a:prstGeom>
          <a:noFill/>
          <a:ln w="1270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5256" y="5559552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81818"/>
                </a:solidFill>
                <a:latin typeface="Consolas"/>
              </a:rPr>
              <a:t>YEAR-1 REVENUE (EST.)   </a:t>
            </a:r>
            <a:r>
              <a:rPr sz="1000" b="0">
                <a:solidFill>
                  <a:srgbClr val="6F6F6F"/>
                </a:solidFill>
                <a:latin typeface="Segoe UI"/>
              </a:rPr>
              <a:t>1,000 learners × 5% Pro ≈ 50 × $4.99 ≈ $250/mo (₹22K) — plus institution licences (est. ₹50K–2L/yr per lab).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17320" cy="64008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6364224"/>
            <a:ext cx="10820095" cy="12801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55664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60">
                <a:solidFill>
                  <a:srgbClr val="6F6F6F"/>
                </a:solidFill>
                <a:latin typeface="Consolas"/>
              </a:rPr>
              <a:t>PRIZM  ·  ABHYUDAY 2026  ·  Startup India Hackathon-cum-Mentorship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77095" y="6455664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60">
                <a:solidFill>
                  <a:srgbClr val="181818"/>
                </a:solidFill>
                <a:latin typeface="Consolas"/>
              </a:rPr>
              <a:t>11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50">
                <a:solidFill>
                  <a:srgbClr val="181818"/>
                </a:solidFill>
                <a:latin typeface="Consolas"/>
              </a:rPr>
              <a:t>11  ·  BENEFITS, SCALABILITY &amp; FUTURE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13232"/>
            <a:ext cx="108200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81818"/>
                </a:solidFill>
                <a:latin typeface="Segoe UI Semibold"/>
              </a:rPr>
              <a:t>Why it matters now — and where it goes next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298448"/>
            <a:ext cx="10820095" cy="12801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1517904"/>
            <a:ext cx="3423818" cy="402336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 w="19050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" y="1682495"/>
            <a:ext cx="294833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40">
                <a:solidFill>
                  <a:srgbClr val="181818"/>
                </a:solidFill>
                <a:latin typeface="Consolas"/>
              </a:rPr>
              <a:t>BENEFITS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3544" y="2011680"/>
            <a:ext cx="2948330" cy="12801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23544" y="2240279"/>
            <a:ext cx="73152" cy="73152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24712" y="2148840"/>
            <a:ext cx="274716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81818"/>
                </a:solidFill>
                <a:latin typeface="Segoe UI Semibold"/>
              </a:rPr>
              <a:t>Every step explains itself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" y="2478024"/>
            <a:ext cx="274716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F6F6F"/>
                </a:solidFill>
                <a:latin typeface="Segoe UI"/>
              </a:rPr>
              <a:t>A story per step — headline, what, why, next — from real runtime values.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" y="3063239"/>
            <a:ext cx="73152" cy="73152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24712" y="2971800"/>
            <a:ext cx="274716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81818"/>
                </a:solidFill>
                <a:latin typeface="Segoe UI Semibold"/>
              </a:rPr>
              <a:t>Trustworthy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" y="3300984"/>
            <a:ext cx="274716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F6F6F"/>
                </a:solidFill>
                <a:latin typeface="Segoe UI"/>
              </a:rPr>
              <a:t>Deterministic story first; AI insight enhances it, never invents values.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" y="3886200"/>
            <a:ext cx="73152" cy="73152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24712" y="3794759"/>
            <a:ext cx="274716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81818"/>
                </a:solidFill>
                <a:latin typeface="Segoe UI Semibold"/>
              </a:rPr>
              <a:t>Learn by doing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" y="4123944"/>
            <a:ext cx="274716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F6F6F"/>
                </a:solidFill>
                <a:latin typeface="Segoe UI"/>
              </a:rPr>
              <a:t>Change code → new trace; scrub backwards without re-running.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3544" y="4709160"/>
            <a:ext cx="73152" cy="73152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24712" y="4617720"/>
            <a:ext cx="274716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81818"/>
                </a:solidFill>
                <a:latin typeface="Segoe UI Semibold"/>
              </a:rPr>
              <a:t>Safe to experiment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" y="4946904"/>
            <a:ext cx="274716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F6F6F"/>
                </a:solidFill>
                <a:latin typeface="Segoe UI"/>
              </a:rPr>
              <a:t>Capped, isolated runs — crash, abort, repeat.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3938" y="1517904"/>
            <a:ext cx="3423818" cy="402336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 w="1270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21682" y="1682495"/>
            <a:ext cx="294833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40">
                <a:solidFill>
                  <a:srgbClr val="181818"/>
                </a:solidFill>
                <a:latin typeface="Consolas"/>
              </a:rPr>
              <a:t>SCALABILITY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21682" y="2011680"/>
            <a:ext cx="2948330" cy="12801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621682" y="2240279"/>
            <a:ext cx="73152" cy="73152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22850" y="2148840"/>
            <a:ext cx="274716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81818"/>
                </a:solidFill>
                <a:latin typeface="Segoe UI Semibold"/>
              </a:rPr>
              <a:t>13 modes, 9 tracers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22850" y="2478024"/>
            <a:ext cx="274716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F6F6F"/>
                </a:solidFill>
                <a:latin typeface="Segoe UI"/>
              </a:rPr>
              <a:t>Runtime availability is detected per machine; trace support is not claimed where absent.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21682" y="3063239"/>
            <a:ext cx="73152" cy="73152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22850" y="2971800"/>
            <a:ext cx="274716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81818"/>
                </a:solidFill>
                <a:latin typeface="Segoe UI Semibold"/>
              </a:rPr>
              <a:t>Persistent credit counters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22850" y="3300984"/>
            <a:ext cx="274716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F6F6F"/>
                </a:solidFill>
                <a:latin typeface="Segoe UI"/>
              </a:rPr>
              <a:t>SQLite survives API restarts; per-client identity is browser-local, no sign-in.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21682" y="3886200"/>
            <a:ext cx="73152" cy="73152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22850" y="3794759"/>
            <a:ext cx="274716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81818"/>
                </a:solidFill>
                <a:latin typeface="Segoe UI Semibold"/>
              </a:rPr>
              <a:t>QA on every screen size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22850" y="4123944"/>
            <a:ext cx="274716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F6F6F"/>
                </a:solidFill>
                <a:latin typeface="Segoe UI"/>
              </a:rPr>
              <a:t>160 automated checks: 67 backend tests, 17 UI interaction flows, 76 responsive views.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21682" y="4709160"/>
            <a:ext cx="73152" cy="73152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22850" y="4617720"/>
            <a:ext cx="274716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81818"/>
                </a:solidFill>
                <a:latin typeface="Segoe UI Semibold"/>
              </a:rPr>
              <a:t>Production hardening needed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22850" y="4946904"/>
            <a:ext cx="274716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F6F6F"/>
                </a:solidFill>
                <a:latin typeface="Segoe UI"/>
              </a:rPr>
              <a:t>Current child-process isolation is demo-grade; container / trusted sandbox is future work.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82076" y="1517904"/>
            <a:ext cx="3423818" cy="4023360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 w="1270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19820" y="1682495"/>
            <a:ext cx="294833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40">
                <a:solidFill>
                  <a:srgbClr val="181818"/>
                </a:solidFill>
                <a:latin typeface="Consolas"/>
              </a:rPr>
              <a:t>FUTURE SCOPE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19820" y="2011680"/>
            <a:ext cx="2948330" cy="12801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319820" y="2240279"/>
            <a:ext cx="73152" cy="73152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20988" y="2148840"/>
            <a:ext cx="274716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81818"/>
                </a:solidFill>
                <a:latin typeface="Segoe UI Semibold"/>
              </a:rPr>
              <a:t>Evidence of learning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20988" y="2478024"/>
            <a:ext cx="274716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F6F6F"/>
                </a:solidFill>
                <a:latin typeface="Segoe UI"/>
              </a:rPr>
              <a:t>Prediction questions, exercises and progress tracking are roadmap items.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319820" y="3063239"/>
            <a:ext cx="73152" cy="73152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20988" y="2971800"/>
            <a:ext cx="274716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81818"/>
                </a:solidFill>
                <a:latin typeface="Segoe UI Semibold"/>
              </a:rPr>
              <a:t>Class &amp; cohort dashboards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20988" y="3300984"/>
            <a:ext cx="274716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F6F6F"/>
                </a:solidFill>
                <a:latin typeface="Segoe UI"/>
              </a:rPr>
              <a:t>Educators see where a batch loses the plot.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319820" y="3886200"/>
            <a:ext cx="73152" cy="73152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20988" y="3794759"/>
            <a:ext cx="274716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81818"/>
                </a:solidFill>
                <a:latin typeface="Segoe UI Semibold"/>
              </a:rPr>
              <a:t>Assessment engine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20988" y="4123944"/>
            <a:ext cx="274716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F6F6F"/>
                </a:solidFill>
                <a:latin typeface="Segoe UI"/>
              </a:rPr>
              <a:t>Auto-graded tasks built on real execution traces.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319820" y="4709160"/>
            <a:ext cx="73152" cy="73152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20988" y="4617720"/>
            <a:ext cx="274716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81818"/>
                </a:solidFill>
                <a:latin typeface="Segoe UI Semibold"/>
              </a:rPr>
              <a:t>Trace parity + flowcharts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20988" y="4946904"/>
            <a:ext cx="274716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F6F6F"/>
                </a:solidFill>
                <a:latin typeface="Segoe UI"/>
              </a:rPr>
              <a:t>Extend beyond Python flowcharts; improve engine depth and consistency.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85800" y="5705856"/>
            <a:ext cx="10820095" cy="640080"/>
          </a:xfrm>
          <a:prstGeom prst="roundRect">
            <a:avLst>
              <a:gd name="adj" fmla="val 7000"/>
            </a:avLst>
          </a:prstGeom>
          <a:noFill/>
          <a:ln w="17780">
            <a:solidFill>
              <a:srgbClr val="1818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60120" y="5815584"/>
            <a:ext cx="102714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81818"/>
                </a:solidFill>
                <a:latin typeface="Consolas"/>
              </a:rPr>
              <a:t>SCALE ECONOMICS (APPROX.)   </a:t>
            </a:r>
            <a:r>
              <a:rPr sz="1100" b="0">
                <a:solidFill>
                  <a:srgbClr val="181818"/>
                </a:solidFill>
                <a:latin typeface="Segoe UI"/>
              </a:rPr>
              <a:t>1 K users ≈ $21–100 / mo (₹1.8–8.8K)  ·  10 K users ≈ $60–250 / mo (₹5.4–22K, AI-dominated)  ·  500 Pro ≈ $2.5 K MRR (₹2.2 L)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1">
                <a:solidFill>
                  <a:srgbClr val="181818"/>
                </a:solidFill>
                <a:latin typeface="Consolas"/>
              </a:rPr>
              <a:t>Growth plan: </a:t>
            </a:r>
            <a:r>
              <a:rPr sz="1050" b="0">
                <a:solidFill>
                  <a:srgbClr val="6F6F6F"/>
                </a:solidFill>
                <a:latin typeface="Segoe UI"/>
              </a:rPr>
              <a:t>container sandbox + hosted Postgres + LMS API are the three spend steps ahead.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